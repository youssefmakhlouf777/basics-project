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</p:sldIdLst>
  <p:sldSz cy="42793900" cx="30266625"/>
  <p:notesSz cx="42793900" cy="302666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6452DE-EB2D-4C7A-8A4B-EBBE7B7A0E71}">
  <a:tblStyle styleId="{C66452DE-EB2D-4C7A-8A4B-EBBE7B7A0E7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13.png"/><Relationship Id="rId13" Type="http://schemas.openxmlformats.org/officeDocument/2006/relationships/image" Target="../media/image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9" Type="http://schemas.openxmlformats.org/officeDocument/2006/relationships/image" Target="../media/image11.png"/><Relationship Id="rId15" Type="http://schemas.openxmlformats.org/officeDocument/2006/relationships/image" Target="../media/image9.jpg"/><Relationship Id="rId14" Type="http://schemas.openxmlformats.org/officeDocument/2006/relationships/image" Target="../media/image7.jp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8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8F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302666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5029200"/>
            <a:ext cx="30266640" cy="256032"/>
          </a:xfrm>
          <a:prstGeom prst="rect">
            <a:avLst/>
          </a:prstGeom>
          <a:solidFill>
            <a:srgbClr val="00A3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2211680" y="300000"/>
            <a:ext cx="24928800" cy="15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5600"/>
              <a:buFont typeface="Arial"/>
              <a:buNone/>
            </a:pPr>
            <a:r>
              <a:rPr b="1" lang="en-US" sz="5600">
                <a:solidFill>
                  <a:srgbClr val="0A1628"/>
                </a:solidFill>
              </a:rPr>
              <a:t>Sea-Clean Interactive Toy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2211680" y="2838150"/>
            <a:ext cx="249288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AACCE8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0000FF"/>
                </a:solidFill>
              </a:rPr>
              <a:t>Youssef Khattab · Ayman Atef · Youssef Makhlouf · Omar Abdelsamea · Eslam Hosam</a:t>
            </a:r>
            <a:endParaRPr sz="1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B8A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1A6B8A"/>
              </a:solidFill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211680" y="3500000"/>
            <a:ext cx="2492888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7DA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2C7DA0"/>
                </a:solidFill>
                <a:latin typeface="Arial"/>
                <a:ea typeface="Arial"/>
                <a:cs typeface="Arial"/>
                <a:sym typeface="Arial"/>
              </a:rPr>
              <a:t>Faculty of Engineering  |  Ain Shams University  |  ICHEP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0" y="42226992"/>
            <a:ext cx="30266640" cy="5669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57200" y="42272712"/>
            <a:ext cx="29352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7AA8C4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7AA8C4"/>
                </a:solidFill>
              </a:rPr>
              <a:t>MCT231 Final Presentation — Spring 2026  |  Sea-Clean Interactive Toy  |  Ain Shams University – ICHEP  |  © 2026</a:t>
            </a:r>
            <a:endParaRPr sz="1300">
              <a:solidFill>
                <a:srgbClr val="2C7DA0"/>
              </a:solidFill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84048" y="5577840"/>
            <a:ext cx="9540240" cy="548640"/>
          </a:xfrm>
          <a:prstGeom prst="roundRect">
            <a:avLst>
              <a:gd fmla="val 15000" name="adj"/>
            </a:avLst>
          </a:prstGeom>
          <a:solidFill>
            <a:srgbClr val="00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548640" y="5577840"/>
            <a:ext cx="92110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🌊  Project Overview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84048" y="6126480"/>
            <a:ext cx="9540240" cy="5303520"/>
          </a:xfrm>
          <a:prstGeom prst="roundRect">
            <a:avLst>
              <a:gd fmla="val 206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585216" y="6327648"/>
            <a:ext cx="913790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The Spiro Monitoring System</a:t>
            </a:r>
            <a:r>
              <a:rPr b="0" i="0" lang="en-US" sz="16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 is a mechatronic educational system that simulates marine conservation for children aged 2–10, teaching environmental responsibility through three automated mechanisms in a closed-loop system.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85216" y="7498080"/>
            <a:ext cx="2954528" cy="1261872"/>
          </a:xfrm>
          <a:prstGeom prst="roundRect">
            <a:avLst>
              <a:gd fmla="val 8696" name="adj"/>
            </a:avLst>
          </a:prstGeom>
          <a:solidFill>
            <a:srgbClr val="D0EE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585216" y="7626096"/>
            <a:ext cx="295452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A8C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7A8C"/>
                </a:solidFill>
                <a:latin typeface="Arial"/>
                <a:ea typeface="Arial"/>
                <a:cs typeface="Arial"/>
                <a:sym typeface="Arial"/>
              </a:rPr>
              <a:t>60×60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585216" y="8266176"/>
            <a:ext cx="29545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4E6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C4E6B"/>
                </a:solidFill>
                <a:latin typeface="Arial"/>
                <a:ea typeface="Arial"/>
                <a:cs typeface="Arial"/>
                <a:sym typeface="Arial"/>
              </a:rPr>
              <a:t>cm Footprint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676904" y="7498080"/>
            <a:ext cx="2954528" cy="1261872"/>
          </a:xfrm>
          <a:prstGeom prst="roundRect">
            <a:avLst>
              <a:gd fmla="val 8696" name="adj"/>
            </a:avLst>
          </a:prstGeom>
          <a:solidFill>
            <a:srgbClr val="D0EE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3676904" y="7626096"/>
            <a:ext cx="295452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A8C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7A8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3676904" y="8266176"/>
            <a:ext cx="29545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4E6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C4E6B"/>
                </a:solidFill>
                <a:latin typeface="Arial"/>
                <a:ea typeface="Arial"/>
                <a:cs typeface="Arial"/>
                <a:sym typeface="Arial"/>
              </a:rPr>
              <a:t>Mechanisms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6768592" y="7498080"/>
            <a:ext cx="2954528" cy="1261872"/>
          </a:xfrm>
          <a:prstGeom prst="roundRect">
            <a:avLst>
              <a:gd fmla="val 8696" name="adj"/>
            </a:avLst>
          </a:prstGeom>
          <a:solidFill>
            <a:srgbClr val="D0EE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6768592" y="7626096"/>
            <a:ext cx="295452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A8C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7A8C"/>
                </a:solidFill>
                <a:latin typeface="Arial"/>
                <a:ea typeface="Arial"/>
                <a:cs typeface="Arial"/>
                <a:sym typeface="Arial"/>
              </a:rPr>
              <a:t>2–10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6768592" y="8266176"/>
            <a:ext cx="29545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4E6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C4E6B"/>
                </a:solidFill>
                <a:latin typeface="Arial"/>
                <a:ea typeface="Arial"/>
                <a:cs typeface="Arial"/>
                <a:sym typeface="Arial"/>
              </a:rPr>
              <a:t>Age (yrs)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585216" y="8906256"/>
            <a:ext cx="9137904" cy="2395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Ball enters via single entry point — green=fish, red=garbage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IR sensor triggers servo arm to lift ball 90° to sorting track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Touch LCD prompts child to identify ball type via servo gate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DC motor shooter launches garbage into collection bin via Bluetooth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Trapdoor servo resets bin and returns balls — closing the loop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384048" y="11686032"/>
            <a:ext cx="9540240" cy="548640"/>
          </a:xfrm>
          <a:prstGeom prst="roundRect">
            <a:avLst>
              <a:gd fmla="val 15000" name="adj"/>
            </a:avLst>
          </a:prstGeom>
          <a:solidFill>
            <a:srgbClr val="00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548640" y="11686032"/>
            <a:ext cx="92110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⚙️  System Architecture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384048" y="12234672"/>
            <a:ext cx="9540240" cy="5495544"/>
          </a:xfrm>
          <a:prstGeom prst="roundRect">
            <a:avLst>
              <a:gd fmla="val 199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16" y="12435840"/>
            <a:ext cx="9137904" cy="5093208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3"/>
          <p:cNvSpPr/>
          <p:nvPr/>
        </p:nvSpPr>
        <p:spPr>
          <a:xfrm>
            <a:off x="384048" y="17986248"/>
            <a:ext cx="9540240" cy="548640"/>
          </a:xfrm>
          <a:prstGeom prst="roundRect">
            <a:avLst>
              <a:gd fmla="val 15000" name="adj"/>
            </a:avLst>
          </a:prstGeom>
          <a:solidFill>
            <a:srgbClr val="00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548640" y="17986248"/>
            <a:ext cx="92110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📊  Control Flowcharts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384048" y="18534888"/>
            <a:ext cx="9540240" cy="6062472"/>
          </a:xfrm>
          <a:prstGeom prst="roundRect">
            <a:avLst>
              <a:gd fmla="val 181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" y="18736056"/>
            <a:ext cx="9137904" cy="5660136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"/>
          <p:cNvSpPr/>
          <p:nvPr/>
        </p:nvSpPr>
        <p:spPr>
          <a:xfrm>
            <a:off x="384048" y="24853392"/>
            <a:ext cx="9540240" cy="548640"/>
          </a:xfrm>
          <a:prstGeom prst="roundRect">
            <a:avLst>
              <a:gd fmla="val 15000" name="adj"/>
            </a:avLst>
          </a:prstGeom>
          <a:solidFill>
            <a:srgbClr val="00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548640" y="24853392"/>
            <a:ext cx="92110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🔩  Actuator Sizing Summary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384048" y="25402032"/>
            <a:ext cx="9540240" cy="5303520"/>
          </a:xfrm>
          <a:prstGeom prst="roundRect">
            <a:avLst>
              <a:gd fmla="val 206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8" name="Google Shape;48;p3"/>
          <p:cNvGraphicFramePr/>
          <p:nvPr/>
        </p:nvGraphicFramePr>
        <p:xfrm>
          <a:off x="585216" y="255300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{C66452DE-EB2D-4C7A-8A4B-EBBE7B7A0E71}</a:tableStyleId>
              </a:tblPr>
              <a:tblGrid>
                <a:gridCol w="2284475"/>
                <a:gridCol w="2284475"/>
                <a:gridCol w="2284475"/>
                <a:gridCol w="2284475"/>
              </a:tblGrid>
              <a:tr h="1009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50"/>
                        <a:buFont typeface="Arial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Mechanism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A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50"/>
                        <a:buFont typeface="Arial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Motor Selected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A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50"/>
                        <a:buFont typeface="Arial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τ Required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A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50"/>
                        <a:buFont typeface="Arial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τ Rated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A8C"/>
                    </a:solidFill>
                  </a:tcPr>
                </a:tc>
              </a:tr>
              <a:tr h="1009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Lifting Arm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FS90MG Servo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4.14 N·cm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17.65 N·cm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09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Sorting Gate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28BYJ-48 Stepper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0.20 N·cm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2.94 N·cm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09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Shooter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TT DC Gear Motor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1.11 N·cm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7.85 N·cm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09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Trapdoor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SG90 Micro Servo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0.41 N·cm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17.65 N·cm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" name="Google Shape;49;p3"/>
          <p:cNvSpPr/>
          <p:nvPr/>
        </p:nvSpPr>
        <p:spPr>
          <a:xfrm>
            <a:off x="384048" y="30961584"/>
            <a:ext cx="9540240" cy="548640"/>
          </a:xfrm>
          <a:prstGeom prst="roundRect">
            <a:avLst>
              <a:gd fmla="val 15000" name="adj"/>
            </a:avLst>
          </a:prstGeom>
          <a:solidFill>
            <a:srgbClr val="00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548640" y="30961584"/>
            <a:ext cx="92110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📸  Prototype Photos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384048" y="31510224"/>
            <a:ext cx="9540240" cy="5596128"/>
          </a:xfrm>
          <a:prstGeom prst="roundRect">
            <a:avLst>
              <a:gd fmla="val 1961" name="adj"/>
            </a:avLst>
          </a:prstGeom>
          <a:solidFill>
            <a:srgbClr val="F0F8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795528" y="31894272"/>
            <a:ext cx="8717280" cy="4828032"/>
          </a:xfrm>
          <a:prstGeom prst="roundRect">
            <a:avLst>
              <a:gd fmla="val 1894" name="adj"/>
            </a:avLst>
          </a:prstGeom>
          <a:solidFill>
            <a:srgbClr val="E2F0F4"/>
          </a:solidFill>
          <a:ln cap="flat" cmpd="sng" w="25400">
            <a:solidFill>
              <a:srgbClr val="9ECBD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795528" y="33805368"/>
            <a:ext cx="871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CBD8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9ECBD8"/>
                </a:solidFill>
                <a:latin typeface="Arial"/>
                <a:ea typeface="Arial"/>
                <a:cs typeface="Arial"/>
                <a:sym typeface="Arial"/>
              </a:rPr>
              <a:t>[ Prototype Photos ]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795528" y="34445448"/>
            <a:ext cx="8717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C9D5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AAC9D5"/>
                </a:solidFill>
                <a:latin typeface="Arial"/>
                <a:ea typeface="Arial"/>
                <a:cs typeface="Arial"/>
                <a:sym typeface="Arial"/>
              </a:rPr>
              <a:t>To be added after physical build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384048" y="37362384"/>
            <a:ext cx="9540240" cy="548640"/>
          </a:xfrm>
          <a:prstGeom prst="roundRect">
            <a:avLst>
              <a:gd fmla="val 15000" name="adj"/>
            </a:avLst>
          </a:prstGeom>
          <a:solidFill>
            <a:srgbClr val="2C4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548640" y="37362384"/>
            <a:ext cx="92110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👥  Team &amp; Acknowledgements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84048" y="37911024"/>
            <a:ext cx="9540240" cy="3922776"/>
          </a:xfrm>
          <a:prstGeom prst="roundRect">
            <a:avLst>
              <a:gd fmla="val 279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585216" y="38112192"/>
            <a:ext cx="9137904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A8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7A8C"/>
                </a:solidFill>
                <a:latin typeface="Arial"/>
                <a:ea typeface="Arial"/>
                <a:cs typeface="Arial"/>
                <a:sym typeface="Arial"/>
              </a:rPr>
              <a:t>Team Members</a:t>
            </a:r>
            <a:br>
              <a:rPr b="1" i="0" lang="en-US" sz="1600" u="none" cap="none" strike="noStrike">
                <a:solidFill>
                  <a:srgbClr val="007A8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Mohamed Farag (2421025)   Yousef Ashraf (2421036)   Zeyad Omar (2421042)</a:t>
            </a:r>
            <a:br>
              <a:rPr b="0" i="0" lang="en-US" sz="16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6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Course: </a:t>
            </a:r>
            <a:r>
              <a:rPr b="0" i="0" lang="en-US" sz="16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MCT231 — Mechatronics  |  Spring 2026</a:t>
            </a:r>
            <a:br>
              <a:rPr b="0" i="0" lang="en-US" sz="16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Institution: </a:t>
            </a:r>
            <a:r>
              <a:rPr b="0" i="0" lang="en-US" sz="16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Ain Shams University, Faculty of Engineering (ICHEP)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University of East London (UEL)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10363200" y="5577840"/>
            <a:ext cx="9540240" cy="548640"/>
          </a:xfrm>
          <a:prstGeom prst="roundRect">
            <a:avLst>
              <a:gd fmla="val 15000" name="adj"/>
            </a:avLst>
          </a:prstGeom>
          <a:solidFill>
            <a:srgbClr val="00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10527792" y="5577840"/>
            <a:ext cx="92110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🖥️  CAD Renders — Full Assembly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0363200" y="6126480"/>
            <a:ext cx="9540240" cy="7680960"/>
          </a:xfrm>
          <a:prstGeom prst="roundRect">
            <a:avLst>
              <a:gd fmla="val 142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64368" y="6327648"/>
            <a:ext cx="9137904" cy="370734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"/>
          <p:cNvSpPr/>
          <p:nvPr/>
        </p:nvSpPr>
        <p:spPr>
          <a:xfrm>
            <a:off x="10564368" y="10053279"/>
            <a:ext cx="91379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A7BC"/>
              </a:buClr>
              <a:buSzPts val="1150"/>
              <a:buFont typeface="Arial"/>
              <a:buNone/>
            </a:pPr>
            <a:r>
              <a:rPr b="0" i="1" lang="en-US" sz="1150" u="none" cap="none" strike="noStrike">
                <a:solidFill>
                  <a:srgbClr val="7BA7BC"/>
                </a:solidFill>
                <a:latin typeface="Arial"/>
                <a:ea typeface="Arial"/>
                <a:cs typeface="Arial"/>
                <a:sym typeface="Arial"/>
              </a:rPr>
              <a:t>Fig. 1 — Isometric views of full integrated assembly (Autodesk Inventor)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65536" y="10382463"/>
            <a:ext cx="8735568" cy="2912913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"/>
          <p:cNvSpPr/>
          <p:nvPr/>
        </p:nvSpPr>
        <p:spPr>
          <a:xfrm>
            <a:off x="10564368" y="13313664"/>
            <a:ext cx="91379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A7BC"/>
              </a:buClr>
              <a:buSzPts val="1150"/>
              <a:buFont typeface="Arial"/>
              <a:buNone/>
            </a:pPr>
            <a:r>
              <a:rPr b="0" i="1" lang="en-US" sz="1150" u="none" cap="none" strike="noStrike">
                <a:solidFill>
                  <a:srgbClr val="7BA7BC"/>
                </a:solidFill>
                <a:latin typeface="Arial"/>
                <a:ea typeface="Arial"/>
                <a:cs typeface="Arial"/>
                <a:sym typeface="Arial"/>
              </a:rPr>
              <a:t>Fig. 2 — Top view showing ball pathway and mechanism layout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0363200" y="14063472"/>
            <a:ext cx="9540240" cy="548640"/>
          </a:xfrm>
          <a:prstGeom prst="roundRect">
            <a:avLst>
              <a:gd fmla="val 15000" name="adj"/>
            </a:avLst>
          </a:prstGeom>
          <a:solidFill>
            <a:srgbClr val="00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10527792" y="14063472"/>
            <a:ext cx="92110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🔧  Subsystem CAD Renders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363200" y="14612112"/>
            <a:ext cx="9540240" cy="10469880"/>
          </a:xfrm>
          <a:prstGeom prst="roundRect">
            <a:avLst>
              <a:gd fmla="val 115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10564368" y="14813280"/>
            <a:ext cx="4477512" cy="384048"/>
          </a:xfrm>
          <a:prstGeom prst="roundRect">
            <a:avLst>
              <a:gd fmla="val 14286" name="adj"/>
            </a:avLst>
          </a:prstGeom>
          <a:solidFill>
            <a:srgbClr val="00A3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10655808" y="14813280"/>
            <a:ext cx="42946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Lifting Mechanism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" name="Google Shape;71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64368" y="15233904"/>
            <a:ext cx="4477512" cy="413446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/>
          <p:nvPr/>
        </p:nvSpPr>
        <p:spPr>
          <a:xfrm>
            <a:off x="10564368" y="19386652"/>
            <a:ext cx="44775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A7BC"/>
              </a:buClr>
              <a:buSzPts val="1150"/>
              <a:buFont typeface="Arial"/>
              <a:buNone/>
            </a:pPr>
            <a:r>
              <a:rPr b="0" i="1" lang="en-US" sz="1150" u="none" cap="none" strike="noStrike">
                <a:solidFill>
                  <a:srgbClr val="7BA7BC"/>
                </a:solidFill>
                <a:latin typeface="Arial"/>
                <a:ea typeface="Arial"/>
                <a:cs typeface="Arial"/>
                <a:sym typeface="Arial"/>
              </a:rPr>
              <a:t>FS90MG Servo · 90° · 1 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5224760" y="14813280"/>
            <a:ext cx="4477512" cy="384048"/>
          </a:xfrm>
          <a:prstGeom prst="roundRect">
            <a:avLst>
              <a:gd fmla="val 14286" name="adj"/>
            </a:avLst>
          </a:prstGeom>
          <a:solidFill>
            <a:srgbClr val="00A3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15316200" y="14813280"/>
            <a:ext cx="42946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Sorting Mechanism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" name="Google Shape;75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224760" y="15233904"/>
            <a:ext cx="4477512" cy="413446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/>
          <p:nvPr/>
        </p:nvSpPr>
        <p:spPr>
          <a:xfrm>
            <a:off x="15224760" y="19386652"/>
            <a:ext cx="44775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A7BC"/>
              </a:buClr>
              <a:buSzPts val="1150"/>
              <a:buFont typeface="Arial"/>
              <a:buNone/>
            </a:pPr>
            <a:r>
              <a:rPr b="0" i="1" lang="en-US" sz="1150" u="none" cap="none" strike="noStrike">
                <a:solidFill>
                  <a:srgbClr val="7BA7BC"/>
                </a:solidFill>
                <a:latin typeface="Arial"/>
                <a:ea typeface="Arial"/>
                <a:cs typeface="Arial"/>
                <a:sym typeface="Arial"/>
              </a:rPr>
              <a:t>28BYJ-48 Stepper · color sensor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10564368" y="19788988"/>
            <a:ext cx="9137904" cy="384048"/>
          </a:xfrm>
          <a:prstGeom prst="roundRect">
            <a:avLst>
              <a:gd fmla="val 14286" name="adj"/>
            </a:avLst>
          </a:prstGeom>
          <a:solidFill>
            <a:srgbClr val="E85A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10655808" y="19788988"/>
            <a:ext cx="89550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Shooting Mechanism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" name="Google Shape;79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966704" y="20209612"/>
            <a:ext cx="8333232" cy="454319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10564368" y="24771096"/>
            <a:ext cx="91379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A7BC"/>
              </a:buClr>
              <a:buSzPts val="1150"/>
              <a:buFont typeface="Arial"/>
              <a:buNone/>
            </a:pPr>
            <a:r>
              <a:rPr b="0" i="1" lang="en-US" sz="1150" u="none" cap="none" strike="noStrike">
                <a:solidFill>
                  <a:srgbClr val="7BA7BC"/>
                </a:solidFill>
                <a:latin typeface="Arial"/>
                <a:ea typeface="Arial"/>
                <a:cs typeface="Arial"/>
                <a:sym typeface="Arial"/>
              </a:rPr>
              <a:t>TT DC Gear Motor · 180° · 0.5 s · v₀=1.78 m/s · Range=28 cm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0363200" y="25338024"/>
            <a:ext cx="9540240" cy="548640"/>
          </a:xfrm>
          <a:prstGeom prst="roundRect">
            <a:avLst>
              <a:gd fmla="val 15000" name="adj"/>
            </a:avLst>
          </a:prstGeom>
          <a:solidFill>
            <a:srgbClr val="00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10527792" y="25338024"/>
            <a:ext cx="92110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📋  Product Design Specification (PDS)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0363200" y="25886664"/>
            <a:ext cx="9540240" cy="6629400"/>
          </a:xfrm>
          <a:prstGeom prst="roundRect">
            <a:avLst>
              <a:gd fmla="val 1655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4" name="Google Shape;84;p3"/>
          <p:cNvGraphicFramePr/>
          <p:nvPr/>
        </p:nvGraphicFramePr>
        <p:xfrm>
          <a:off x="10564368" y="26014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{C66452DE-EB2D-4C7A-8A4B-EBBE7B7A0E71}</a:tableStyleId>
              </a:tblPr>
              <a:tblGrid>
                <a:gridCol w="4568950"/>
                <a:gridCol w="4568950"/>
              </a:tblGrid>
              <a:tr h="637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Specification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A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Value / Requirement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A8C"/>
                    </a:solidFill>
                  </a:tcPr>
                </a:tc>
              </a:tr>
              <a:tr h="637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Dimensions (L×W×H)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 × 60 × 80 cm  (max 100×100×100 cm)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7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Materials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3D Printed PLA+ (20% infill) + Laser-cut Wood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7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Microcontrollers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Dual Arduino Uno — I²C communication protocol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7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Power Source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Single 9V Battery + LM596 Buck Converter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7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Sensors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FC-51 IR Obstacle + TCS3200 Color Sensor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7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Interface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Touch LCD/TFT  +  Processing.io Bluetooth App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7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Safety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Filleted edges, hidden wiring, child-safe forces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7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 PCB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Min. 1 PCB per subsystem — Proteus designed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37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Ball Coding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Green = Fish (return)  ·  Red = Garbage (shoot)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DF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3"/>
          <p:cNvSpPr/>
          <p:nvPr/>
        </p:nvSpPr>
        <p:spPr>
          <a:xfrm>
            <a:off x="10363200" y="32772096"/>
            <a:ext cx="9540240" cy="548640"/>
          </a:xfrm>
          <a:prstGeom prst="roundRect">
            <a:avLst>
              <a:gd fmla="val 15000" name="adj"/>
            </a:avLst>
          </a:prstGeom>
          <a:solidFill>
            <a:srgbClr val="00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10527792" y="32772096"/>
            <a:ext cx="92110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📐  Projectile Analysis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10363200" y="33320736"/>
            <a:ext cx="9540240" cy="4535424"/>
          </a:xfrm>
          <a:prstGeom prst="roundRect">
            <a:avLst>
              <a:gd fmla="val 241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8" name="Google Shape;88;p3"/>
          <p:cNvGraphicFramePr/>
          <p:nvPr/>
        </p:nvGraphicFramePr>
        <p:xfrm>
          <a:off x="10564368" y="334487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{C66452DE-EB2D-4C7A-8A4B-EBBE7B7A0E71}</a:tableStyleId>
              </a:tblPr>
              <a:tblGrid>
                <a:gridCol w="3045975"/>
                <a:gridCol w="3045975"/>
                <a:gridCol w="3045975"/>
              </a:tblGrid>
              <a:tr h="713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50"/>
                        <a:buFont typeface="Arial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Parameter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5A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50"/>
                        <a:buFont typeface="Arial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Symbol / Formula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5A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50"/>
                        <a:buFont typeface="Arial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Value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5A45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Launch Angle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θ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30°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Target Range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0.28 m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Initial Velocity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v₀ = √(Rg / sin 2θ)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1.78 m/s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Time of Flight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 = 2v₀ sinθ / g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0.18 s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 Height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 = (v₀ sinθ)² / 2g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2A"/>
                        </a:buClr>
                        <a:buSzPts val="15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0D1B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0.040 m</a:t>
                      </a:r>
                      <a:endParaRPr sz="15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0C8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" name="Google Shape;89;p3"/>
          <p:cNvSpPr/>
          <p:nvPr/>
        </p:nvSpPr>
        <p:spPr>
          <a:xfrm>
            <a:off x="10363200" y="38112192"/>
            <a:ext cx="9540240" cy="548640"/>
          </a:xfrm>
          <a:prstGeom prst="roundRect">
            <a:avLst>
              <a:gd fmla="val 15000" name="adj"/>
            </a:avLst>
          </a:prstGeom>
          <a:solidFill>
            <a:srgbClr val="00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10527792" y="38112192"/>
            <a:ext cx="92110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🔗  Project Resources &amp; Links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10363200" y="38660832"/>
            <a:ext cx="9540240" cy="3172968"/>
          </a:xfrm>
          <a:prstGeom prst="roundRect">
            <a:avLst>
              <a:gd fmla="val 3458" name="adj"/>
            </a:avLst>
          </a:prstGeom>
          <a:solidFill>
            <a:srgbClr val="F0F8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10564368" y="38862000"/>
            <a:ext cx="2924048" cy="2770632"/>
          </a:xfrm>
          <a:prstGeom prst="roundRect">
            <a:avLst>
              <a:gd fmla="val 3960" name="adj"/>
            </a:avLst>
          </a:prstGeom>
          <a:solidFill>
            <a:srgbClr val="D0EE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11167496" y="38971728"/>
            <a:ext cx="1717792" cy="1717792"/>
          </a:xfrm>
          <a:prstGeom prst="roundRect">
            <a:avLst>
              <a:gd fmla="val 4258" name="adj"/>
            </a:avLst>
          </a:prstGeom>
          <a:solidFill>
            <a:srgbClr val="00A3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11167496" y="38971728"/>
            <a:ext cx="1717792" cy="1717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10610088" y="40744384"/>
            <a:ext cx="28326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GitHub Repository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10610088" y="41128432"/>
            <a:ext cx="283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A7BC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7BA7BC"/>
                </a:solidFill>
                <a:latin typeface="Arial"/>
                <a:ea typeface="Arial"/>
                <a:cs typeface="Arial"/>
                <a:sym typeface="Arial"/>
              </a:rPr>
              <a:t>Code &amp; Firmware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13671296" y="38862000"/>
            <a:ext cx="2924048" cy="2770632"/>
          </a:xfrm>
          <a:prstGeom prst="roundRect">
            <a:avLst>
              <a:gd fmla="val 3960" name="adj"/>
            </a:avLst>
          </a:prstGeom>
          <a:solidFill>
            <a:srgbClr val="D0EE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14274424" y="38971728"/>
            <a:ext cx="1717792" cy="1717792"/>
          </a:xfrm>
          <a:prstGeom prst="roundRect">
            <a:avLst>
              <a:gd fmla="val 4258" name="adj"/>
            </a:avLst>
          </a:prstGeom>
          <a:solidFill>
            <a:srgbClr val="00A3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14274424" y="38971728"/>
            <a:ext cx="1717792" cy="1717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13717016" y="40744384"/>
            <a:ext cx="28326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Demo Video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13717016" y="41128432"/>
            <a:ext cx="283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A7BC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7BA7BC"/>
                </a:solidFill>
                <a:latin typeface="Arial"/>
                <a:ea typeface="Arial"/>
                <a:cs typeface="Arial"/>
                <a:sym typeface="Arial"/>
              </a:rPr>
              <a:t>System Operation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16778224" y="38862000"/>
            <a:ext cx="2924048" cy="2770632"/>
          </a:xfrm>
          <a:prstGeom prst="roundRect">
            <a:avLst>
              <a:gd fmla="val 3960" name="adj"/>
            </a:avLst>
          </a:prstGeom>
          <a:solidFill>
            <a:srgbClr val="D0EEF4"/>
          </a:solidFill>
          <a:ln>
            <a:noFill/>
          </a:ln>
          <a:effectLst>
            <a:outerShdw blurRad="1016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17381352" y="38971728"/>
            <a:ext cx="1717792" cy="1717792"/>
          </a:xfrm>
          <a:prstGeom prst="roundRect">
            <a:avLst>
              <a:gd fmla="val 4258" name="adj"/>
            </a:avLst>
          </a:prstGeom>
          <a:solidFill>
            <a:srgbClr val="00A3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17381352" y="38971728"/>
            <a:ext cx="1717792" cy="1717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16823944" y="40744384"/>
            <a:ext cx="28326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Documentation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16823944" y="41128432"/>
            <a:ext cx="283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A7BC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7BA7BC"/>
                </a:solidFill>
                <a:latin typeface="Arial"/>
                <a:ea typeface="Arial"/>
                <a:cs typeface="Arial"/>
                <a:sym typeface="Arial"/>
              </a:rPr>
              <a:t>Report &amp; BOM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20342352" y="5577840"/>
            <a:ext cx="9540240" cy="548640"/>
          </a:xfrm>
          <a:prstGeom prst="roundRect">
            <a:avLst>
              <a:gd fmla="val 15000" name="adj"/>
            </a:avLst>
          </a:prstGeom>
          <a:solidFill>
            <a:srgbClr val="00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20506944" y="5577840"/>
            <a:ext cx="92110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⚡  Wiring Diagrams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20342352" y="6126480"/>
            <a:ext cx="9540240" cy="9921240"/>
          </a:xfrm>
          <a:prstGeom prst="roundRect">
            <a:avLst>
              <a:gd fmla="val 115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20543520" y="6327648"/>
            <a:ext cx="9137904" cy="384048"/>
          </a:xfrm>
          <a:prstGeom prst="roundRect">
            <a:avLst>
              <a:gd fmla="val 14286" name="adj"/>
            </a:avLst>
          </a:prstGeom>
          <a:solidFill>
            <a:srgbClr val="00A3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20634960" y="6327648"/>
            <a:ext cx="89550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Sorting Subsystem — Fritzing Wiring Diagram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543520" y="6748272"/>
            <a:ext cx="9137904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"/>
          <p:cNvSpPr/>
          <p:nvPr/>
        </p:nvSpPr>
        <p:spPr>
          <a:xfrm>
            <a:off x="20543520" y="10767060"/>
            <a:ext cx="91379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A7BC"/>
              </a:buClr>
              <a:buSzPts val="1150"/>
              <a:buFont typeface="Arial"/>
              <a:buNone/>
            </a:pPr>
            <a:r>
              <a:rPr b="0" i="1" lang="en-US" sz="1150" u="none" cap="none" strike="noStrike">
                <a:solidFill>
                  <a:srgbClr val="7BA7BC"/>
                </a:solidFill>
                <a:latin typeface="Arial"/>
                <a:ea typeface="Arial"/>
                <a:cs typeface="Arial"/>
                <a:sym typeface="Arial"/>
              </a:rPr>
              <a:t>Arduino Uno · TCS3200 Color Sensor · ULN2003 Driver · 28BYJ-48 Stepper · 9V Supply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20543520" y="11187684"/>
            <a:ext cx="9137904" cy="384048"/>
          </a:xfrm>
          <a:prstGeom prst="roundRect">
            <a:avLst>
              <a:gd fmla="val 14286" name="adj"/>
            </a:avLst>
          </a:prstGeom>
          <a:solidFill>
            <a:srgbClr val="00A3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20634960" y="11187684"/>
            <a:ext cx="89550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Lifting Subsystem — Fritzing Wiring Diagram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" name="Google Shape;116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0543520" y="11608308"/>
            <a:ext cx="9137904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/>
          <p:nvPr/>
        </p:nvSpPr>
        <p:spPr>
          <a:xfrm>
            <a:off x="20543520" y="15627096"/>
            <a:ext cx="91379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A7BC"/>
              </a:buClr>
              <a:buSzPts val="1150"/>
              <a:buFont typeface="Arial"/>
              <a:buNone/>
            </a:pPr>
            <a:r>
              <a:rPr b="0" i="1" lang="en-US" sz="1150" u="none" cap="none" strike="noStrike">
                <a:solidFill>
                  <a:srgbClr val="7BA7BC"/>
                </a:solidFill>
                <a:latin typeface="Arial"/>
                <a:ea typeface="Arial"/>
                <a:cs typeface="Arial"/>
                <a:sym typeface="Arial"/>
              </a:rPr>
              <a:t>Arduino Uno · FC-51 IR Sensor · LM596 Buck Converter · DGServo 9g · 9V Supply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20342352" y="16303752"/>
            <a:ext cx="9540240" cy="548640"/>
          </a:xfrm>
          <a:prstGeom prst="roundRect">
            <a:avLst>
              <a:gd fmla="val 15000" name="adj"/>
            </a:avLst>
          </a:prstGeom>
          <a:solidFill>
            <a:srgbClr val="00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20506944" y="16303752"/>
            <a:ext cx="92110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🔌  PCB Schematics (Proteus)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20342352" y="16852392"/>
            <a:ext cx="9540240" cy="6839712"/>
          </a:xfrm>
          <a:prstGeom prst="roundRect">
            <a:avLst>
              <a:gd fmla="val 160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20543520" y="17053560"/>
            <a:ext cx="4477512" cy="384048"/>
          </a:xfrm>
          <a:prstGeom prst="roundRect">
            <a:avLst>
              <a:gd fmla="val 14286" name="adj"/>
            </a:avLst>
          </a:prstGeom>
          <a:solidFill>
            <a:srgbClr val="00A3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20634960" y="17053560"/>
            <a:ext cx="42946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Sorting PCB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3" name="Google Shape;123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0543520" y="17474184"/>
            <a:ext cx="4477512" cy="598017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"/>
          <p:cNvSpPr/>
          <p:nvPr/>
        </p:nvSpPr>
        <p:spPr>
          <a:xfrm>
            <a:off x="25203912" y="17053560"/>
            <a:ext cx="4477512" cy="384048"/>
          </a:xfrm>
          <a:prstGeom prst="roundRect">
            <a:avLst>
              <a:gd fmla="val 14286" name="adj"/>
            </a:avLst>
          </a:prstGeom>
          <a:solidFill>
            <a:srgbClr val="00A3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25295352" y="17053560"/>
            <a:ext cx="42946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Lifting PCB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6" name="Google Shape;126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5203912" y="17474184"/>
            <a:ext cx="4477512" cy="598017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/>
          <p:nvPr/>
        </p:nvSpPr>
        <p:spPr>
          <a:xfrm>
            <a:off x="20342352" y="23948136"/>
            <a:ext cx="9540240" cy="548640"/>
          </a:xfrm>
          <a:prstGeom prst="roundRect">
            <a:avLst>
              <a:gd fmla="val 15000" name="adj"/>
            </a:avLst>
          </a:prstGeom>
          <a:solidFill>
            <a:srgbClr val="00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20506944" y="23948136"/>
            <a:ext cx="92110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📈  Key Results &amp; Validation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20342352" y="24496776"/>
            <a:ext cx="9540240" cy="9235440"/>
          </a:xfrm>
          <a:prstGeom prst="roundRect">
            <a:avLst>
              <a:gd fmla="val 118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20543520" y="24697944"/>
            <a:ext cx="9137904" cy="2061972"/>
          </a:xfrm>
          <a:prstGeom prst="roundRect">
            <a:avLst>
              <a:gd fmla="val 5322" name="adj"/>
            </a:avLst>
          </a:prstGeom>
          <a:solidFill>
            <a:srgbClr val="F6FB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20543520" y="24697944"/>
            <a:ext cx="9137904" cy="365760"/>
          </a:xfrm>
          <a:prstGeom prst="roundRect">
            <a:avLst>
              <a:gd fmla="val 17500" name="adj"/>
            </a:avLst>
          </a:prstGeom>
          <a:solidFill>
            <a:srgbClr val="00A3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20634960" y="24697944"/>
            <a:ext cx="8955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Lifting Mechanism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20634960" y="25100280"/>
            <a:ext cx="8955024" cy="15864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FS90MG servo: 4.3× safety margin (17.65 vs 4.14 N·cm required)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Parallel axis: I_pivot = 17.86 kg·cm² — 90° in 1.0 s via PWM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IR sensor (FC-51) reliably detects ball at entry point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20543520" y="26906220"/>
            <a:ext cx="9137904" cy="2061972"/>
          </a:xfrm>
          <a:prstGeom prst="roundRect">
            <a:avLst>
              <a:gd fmla="val 5322" name="adj"/>
            </a:avLst>
          </a:prstGeom>
          <a:solidFill>
            <a:srgbClr val="F6FB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20543520" y="26906220"/>
            <a:ext cx="9137904" cy="365760"/>
          </a:xfrm>
          <a:prstGeom prst="roundRect">
            <a:avLst>
              <a:gd fmla="val 17500" name="adj"/>
            </a:avLst>
          </a:prstGeom>
          <a:solidFill>
            <a:srgbClr val="00C9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20634960" y="26906220"/>
            <a:ext cx="8955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Sorting Mechanism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20634960" y="27308556"/>
            <a:ext cx="8955024" cy="15864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28BYJ-48 stepper: 14.7× margin (2.94 vs 0.20 N·cm required)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TCS3200 distinguishes red/green in real time — routes accordingly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Gate rotates −90° (garbage) or +180° (fish) per detection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20543520" y="29114496"/>
            <a:ext cx="9137904" cy="2061972"/>
          </a:xfrm>
          <a:prstGeom prst="roundRect">
            <a:avLst>
              <a:gd fmla="val 5322" name="adj"/>
            </a:avLst>
          </a:prstGeom>
          <a:solidFill>
            <a:srgbClr val="F6FB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20543520" y="29114496"/>
            <a:ext cx="9137904" cy="365760"/>
          </a:xfrm>
          <a:prstGeom prst="roundRect">
            <a:avLst>
              <a:gd fmla="val 17500" name="adj"/>
            </a:avLst>
          </a:prstGeom>
          <a:solidFill>
            <a:srgbClr val="E85A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20634960" y="29114496"/>
            <a:ext cx="8955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Shooting Mechanism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20634960" y="29516832"/>
            <a:ext cx="8955024" cy="15864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TT DC Gear Motor: 7× margin (7.85 vs 1.11 N·cm required)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180° sweep in 0.5 s — α = 25.13 rad/s² angular acceleration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Projectile safe: v₀ = 1.78 m/s, H_max = 4 cm, T = 0.18 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20543520" y="31322772"/>
            <a:ext cx="9137904" cy="2061972"/>
          </a:xfrm>
          <a:prstGeom prst="roundRect">
            <a:avLst>
              <a:gd fmla="val 5322" name="adj"/>
            </a:avLst>
          </a:prstGeom>
          <a:solidFill>
            <a:srgbClr val="F6FBFC"/>
          </a:solidFill>
          <a:ln>
            <a:noFill/>
          </a:ln>
          <a:effectLst>
            <a:outerShdw blurRad="1016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20543520" y="31322772"/>
            <a:ext cx="9137904" cy="365760"/>
          </a:xfrm>
          <a:prstGeom prst="roundRect">
            <a:avLst>
              <a:gd fmla="val 17500" name="adj"/>
            </a:avLst>
          </a:prstGeom>
          <a:solidFill>
            <a:srgbClr val="4A7F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20634960" y="31322772"/>
            <a:ext cx="8955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Electrical System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20634960" y="31725108"/>
            <a:ext cx="8955024" cy="15864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Dual Arduino Uno: Master handles Bluetooth, Slave handles actuation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I²C protocol: Master sends shoot command (byte 255) to Slave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Custom PCBs fabricated for sorting and lifting subsystems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20342352" y="33988248"/>
            <a:ext cx="9540240" cy="548640"/>
          </a:xfrm>
          <a:prstGeom prst="roundRect">
            <a:avLst>
              <a:gd fmla="val 15000" name="adj"/>
            </a:avLst>
          </a:prstGeom>
          <a:solidFill>
            <a:srgbClr val="007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20506944" y="33988248"/>
            <a:ext cx="92110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✅  Conclusions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20342352" y="34536888"/>
            <a:ext cx="9540240" cy="7296912"/>
          </a:xfrm>
          <a:prstGeom prst="roundRect">
            <a:avLst>
              <a:gd fmla="val 150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20543520" y="34738056"/>
            <a:ext cx="9137904" cy="6894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50"/>
              <a:buFont typeface="Arial"/>
              <a:buChar char="•"/>
            </a:pPr>
            <a:r>
              <a:rPr b="0" i="0" lang="en-US" sz="16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Fully closed-loop mechatronic toy integrating 3 mechanisms under dual-Arduino I²C control — all operating within a single unified pathway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1650"/>
              <a:buFont typeface="Arial"/>
              <a:buChar char="•"/>
            </a:pPr>
            <a:r>
              <a:rPr b="0" i="0" lang="en-US" sz="16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All actuators sized from first principles via Autodesk Inventor iProperties — every motor exceeds requirements by a minimum 3× safety factor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1650"/>
              <a:buFont typeface="Arial"/>
              <a:buChar char="•"/>
            </a:pPr>
            <a:r>
              <a:rPr b="0" i="0" lang="en-US" sz="16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Color-based sorting via TCS3200 enables real-time autonomous ball discrimination, routing fish back and directing garbage to the shooter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1650"/>
              <a:buFont typeface="Arial"/>
              <a:buChar char="•"/>
            </a:pPr>
            <a:r>
              <a:rPr b="0" i="0" lang="en-US" sz="16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Projectile trajectory mathematically validated: v₀=1.78 m/s launches garbage 28 cm at θ=30°, staying within child-safe impact limits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1650"/>
              <a:buFont typeface="Arial"/>
              <a:buChar char="•"/>
            </a:pPr>
            <a:r>
              <a:rPr b="0" i="0" lang="en-US" sz="16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Custom Proteus-designed PCBs fabricated for both subsystems ensuring clean, modular, and maintainable electrical architecture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1650"/>
              <a:buFont typeface="Arial"/>
              <a:buChar char="•"/>
            </a:pPr>
            <a:r>
              <a:rPr b="0" i="0" lang="en-US" sz="16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Marine-themed educational design with touch LCD + Bluetooth app delivers engaging, age-appropriate interaction for children aged 2–10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D1B2A"/>
              </a:buClr>
              <a:buSzPts val="1650"/>
              <a:buFont typeface="Arial"/>
              <a:buChar char="•"/>
            </a:pPr>
            <a:r>
              <a:rPr b="0" i="0" lang="en-US" sz="165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Modular plug-and-play assembly and accessible wiring enable easy subsystem repair, replacement, and future enhancements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99975" y="559325"/>
            <a:ext cx="40005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3855625" y="1275050"/>
            <a:ext cx="5825800" cy="291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"/>
          <p:cNvSpPr/>
          <p:nvPr/>
        </p:nvSpPr>
        <p:spPr>
          <a:xfrm>
            <a:off x="7599405" y="1876492"/>
            <a:ext cx="15910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3B5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A3B5"/>
                </a:solidFill>
                <a:latin typeface="Arial"/>
                <a:ea typeface="Arial"/>
                <a:cs typeface="Arial"/>
                <a:sym typeface="Arial"/>
              </a:rPr>
              <a:t>MCT231 </a:t>
            </a:r>
            <a:r>
              <a:rPr lang="en-US" sz="2000">
                <a:solidFill>
                  <a:srgbClr val="00A3B5"/>
                </a:solidFill>
              </a:rPr>
              <a:t>Final Presentation</a:t>
            </a:r>
            <a:r>
              <a:rPr b="0" i="0" lang="en-US" sz="2000" u="none" cap="none" strike="noStrike">
                <a:solidFill>
                  <a:srgbClr val="00A3B5"/>
                </a:solidFill>
                <a:latin typeface="Arial"/>
                <a:ea typeface="Arial"/>
                <a:cs typeface="Arial"/>
                <a:sym typeface="Arial"/>
              </a:rPr>
              <a:t>  |  Spring 2026  |  Ain Shams University – ICHEP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